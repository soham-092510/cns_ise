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96B4"/>
                </a:solidFill>
              </a:defRPr>
            </a:pPr>
            <a:r>
              <a:t>CNS ISE PROJECT — GROUP 5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Heuristic URL Feature Profiling for Phishing Domain Spotting Using Hyper-Tuned Random Forest Ensembles</a:t>
            </a:r>
          </a:p>
          <a:p>
            <a:pPr>
              <a:defRPr sz="1800">
                <a:solidFill>
                  <a:srgbClr val="DCEBF5"/>
                </a:solidFill>
              </a:defRPr>
            </a:pPr>
            <a:r>
              <a:t>• Model: Hyper-Tuned Random Forest (150 Trees, 30 Max Depth)</a:t>
            </a:r>
            <a:br/>
            <a:r>
              <a:t>• Dataset: Kaggle 11,054 Phishing &amp; Legitimate URLs (30 Features)</a:t>
            </a:r>
            <a:br/>
            <a:r>
              <a:t>• Final Score: 97.42% Accuracy | 97.70% F1 | 61.5 μs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09728"/>
          <a:lstStyle/>
          <a:p>
            <a:pPr algn="ctr">
              <a:defRPr sz="1000" b="1">
                <a:solidFill>
                  <a:srgbClr val="0096B4"/>
                </a:solidFill>
              </a:defRPr>
            </a:pPr>
            <a:r>
              <a:t>CNS ISE — GROUP 5: RANDOM FOREST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Real-World Problem: Why Phishing Still Fools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What is Phishing?: </a:t>
            </a:r>
            <a:r>
              <a:rPr b="0">
                <a:solidFill>
                  <a:srgbClr val="282828"/>
                </a:solidFill>
              </a:rPr>
              <a:t>Fake websites built by attackers that look 100% like real banks, Google, or PayPal to steal passwords.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Why Traditional Blacklists Fail: </a:t>
            </a:r>
            <a:r>
              <a:rPr b="0">
                <a:solidFill>
                  <a:srgbClr val="282828"/>
                </a:solidFill>
              </a:rPr>
              <a:t>Companies like Google keep lists of bad websites, but attackers create new fake websites in minutes and kill them in 4 hours. By the time a site is added to a blacklist, thousands are already hacked.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Our Goal (The Big Picture): </a:t>
            </a:r>
            <a:r>
              <a:rPr b="0">
                <a:solidFill>
                  <a:srgbClr val="282828"/>
                </a:solidFill>
              </a:rPr>
              <a:t>Can we detect fake websites instantly just by looking at the URL itself — before a user even opens the page?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Our Superpower (Group 5): </a:t>
            </a:r>
            <a:r>
              <a:rPr b="0">
                <a:solidFill>
                  <a:srgbClr val="282828"/>
                </a:solidFill>
              </a:rPr>
              <a:t>We used Random Forest — an ensemble of 150 AI decision trees — to catch sneaky URL clues with 97.42% accuracy!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09728"/>
          <a:lstStyle/>
          <a:p>
            <a:pPr algn="ctr">
              <a:defRPr sz="1000" b="1">
                <a:solidFill>
                  <a:srgbClr val="0096B4"/>
                </a:solidFill>
              </a:defRPr>
            </a:pPr>
            <a:r>
              <a:t>CNS ISE — GROUP 5: RANDOM FOREST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30 URL Clues We Analyzed (Without Opening the Page)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Lexical &amp; Address Clues: </a:t>
            </a:r>
            <a:r>
              <a:rPr b="0">
                <a:solidFill>
                  <a:srgbClr val="282828"/>
                </a:solidFill>
              </a:rPr>
              <a:t>Does it use an IP address instead of a domain? Is the URL ridiculously long? Does it use @ symbol or // redirects?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Suspicious Subdomains: </a:t>
            </a:r>
            <a:r>
              <a:rPr b="0">
                <a:solidFill>
                  <a:srgbClr val="282828"/>
                </a:solidFill>
              </a:rPr>
              <a:t>Does it have 4 subdomains like 'paypal.com.verify-account.login-secure.xyz' to trick mobile users?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SSL Certificate Checks: </a:t>
            </a:r>
            <a:r>
              <a:rPr b="0">
                <a:solidFill>
                  <a:srgbClr val="282828"/>
                </a:solidFill>
              </a:rPr>
              <a:t>Is HTTPS legitimate, or is it a self-signed fake certificate with mismatched authority?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Anchor &amp; Link Behavior: </a:t>
            </a:r>
            <a:r>
              <a:rPr b="0">
                <a:solidFill>
                  <a:srgbClr val="282828"/>
                </a:solidFill>
              </a:rPr>
              <a:t>Do the buttons and links on the page actually point back to the real site, or to an attacker's server?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Domain Reputation: </a:t>
            </a:r>
            <a:r>
              <a:rPr b="0">
                <a:solidFill>
                  <a:srgbClr val="282828"/>
                </a:solidFill>
              </a:rPr>
              <a:t>Is the domain brand new (created 3 days ago)? Does it have zero web traffic on Alexa?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09728"/>
          <a:lstStyle/>
          <a:p>
            <a:pPr algn="ctr">
              <a:defRPr sz="1000" b="1">
                <a:solidFill>
                  <a:srgbClr val="0096B4"/>
                </a:solidFill>
              </a:defRPr>
            </a:pPr>
            <a:r>
              <a:t>CNS ISE — GROUP 5: RANDOM FOREST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How Random Forest Works (The 150 Detective Analogy)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A Single Decision Tree is Like 1 Detective: </a:t>
            </a:r>
            <a:r>
              <a:rPr b="0">
                <a:solidFill>
                  <a:srgbClr val="282828"/>
                </a:solidFill>
              </a:rPr>
              <a:t>One detective might make a mistake, have personal bias, or get tricked by an unusual clue.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Random Forest is a Committee of 150 Detectives: </a:t>
            </a:r>
            <a:r>
              <a:rPr b="0">
                <a:solidFill>
                  <a:srgbClr val="282828"/>
                </a:solidFill>
              </a:rPr>
              <a:t>We build 150 distinct trees. Each tree is trained on a different random subset of data (Bootstrap Sampling) and looks at different random clues (Subspace Projection).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Democratic Majority Voting: </a:t>
            </a:r>
            <a:r>
              <a:rPr b="0">
                <a:solidFill>
                  <a:srgbClr val="282828"/>
                </a:solidFill>
              </a:rPr>
              <a:t>When a URL arrives, all 150 trees vote: 'Phishing' or 'Safe'. If 140 say Phishing, the final verdict is Phishing! This completely removes individual mistakes.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The Secret Weapon (OOB Score): </a:t>
            </a:r>
            <a:r>
              <a:rPr b="0">
                <a:solidFill>
                  <a:srgbClr val="282828"/>
                </a:solidFill>
              </a:rPr>
              <a:t>Because each tree only saw ~63% of samples, the remaining 37% (Out-of-Bag) act as an instant self-test without needing a separate test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09728"/>
          <a:lstStyle/>
          <a:p>
            <a:pPr algn="ctr">
              <a:defRPr sz="1000" b="1">
                <a:solidFill>
                  <a:srgbClr val="0096B4"/>
                </a:solidFill>
              </a:defRPr>
            </a:pPr>
            <a:r>
              <a:t>CNS ISE — GROUP 5: RANDOM FOREST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Out-of-Bag (OOB) Decline &amp; Top Predictive Features</a:t>
            </a:r>
          </a:p>
        </p:txBody>
      </p:sp>
      <p:pic>
        <p:nvPicPr>
          <p:cNvPr id="3" name="Picture 2" descr="rf_oob_error_dec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3840480"/>
          </a:xfrm>
          <a:prstGeom prst="rect">
            <a:avLst/>
          </a:prstGeom>
        </p:spPr>
      </p:pic>
      <p:pic>
        <p:nvPicPr>
          <p:cNvPr id="4" name="Picture 3" descr="rf_top10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Left: As we added trees from 30 to 200, the error rate dropped steadily and stabilized at just 2.60% (97.40% OOB accuracy).</a:t>
            </a:r>
            <a:br/>
            <a:r>
              <a:t>Right: The top 3 diagnostic clues: HTTPS/SSL validity (29.3%), Anchor URL tags (23.5%), and Web Traffic volume (8.2%).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09728"/>
          <a:lstStyle/>
          <a:p>
            <a:pPr algn="ctr">
              <a:defRPr sz="1000" b="1">
                <a:solidFill>
                  <a:srgbClr val="0096B4"/>
                </a:solidFill>
              </a:defRPr>
            </a:pPr>
            <a:r>
              <a:t>CNS ISE — GROUP 5: RANDOM FOREST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Champion Results: 97.42% Accuracy &amp; 0.9943 ROC-AUC</a:t>
            </a:r>
          </a:p>
        </p:txBody>
      </p:sp>
      <p:pic>
        <p:nvPicPr>
          <p:cNvPr id="3" name="Picture 2" descr="rf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937760" cy="3840480"/>
          </a:xfrm>
          <a:prstGeom prst="rect">
            <a:avLst/>
          </a:prstGeom>
        </p:spPr>
      </p:pic>
      <p:pic>
        <p:nvPicPr>
          <p:cNvPr id="4" name="Picture 3" descr="rf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493776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Left: Confusion matrix on 2,211 test URLs — 1,213 safe sites and 941 phishing sites correctly caught with only 19 missed (98.46% Recall).</a:t>
            </a:r>
            <a:br/>
            <a:r>
              <a:t>Right: ROC curve hugs the top-left corner with an AUC of 0.9943, proving near-perfect separation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09728"/>
          <a:lstStyle/>
          <a:p>
            <a:pPr algn="ctr">
              <a:defRPr sz="1000" b="1">
                <a:solidFill>
                  <a:srgbClr val="0096B4"/>
                </a:solidFill>
              </a:defRPr>
            </a:pPr>
            <a:r>
              <a:t>CNS ISE — GROUP 5: RANDOM FOREST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Blazing Speed: Ready for Real-Time Edge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Training Speed: </a:t>
            </a:r>
            <a:r>
              <a:rPr b="0">
                <a:solidFill>
                  <a:srgbClr val="282828"/>
                </a:solidFill>
              </a:rPr>
              <a:t>Trained 150 deep decision trees across 8,843 training URLs in just 0.9793 seconds!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Ultra-Low Latency: </a:t>
            </a:r>
            <a:r>
              <a:rPr b="0">
                <a:solidFill>
                  <a:srgbClr val="282828"/>
                </a:solidFill>
              </a:rPr>
              <a:t>Classifying a single URL takes only 61.51 microseconds (0.0000615 seconds).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Real-World Throughput: </a:t>
            </a:r>
            <a:r>
              <a:rPr b="0">
                <a:solidFill>
                  <a:srgbClr val="282828"/>
                </a:solidFill>
              </a:rPr>
              <a:t>A standard single-core CPU can process over 16,000 URLs per second in real time.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Handover to Group 1 (Section 5.2): </a:t>
            </a:r>
            <a:r>
              <a:rPr b="0">
                <a:solidFill>
                  <a:srgbClr val="282828"/>
                </a:solidFill>
              </a:rPr>
              <a:t>We exported all timing metrics into CSV and text summaries for Group 1's hardware latency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09728"/>
          <a:lstStyle/>
          <a:p>
            <a:pPr algn="ctr">
              <a:defRPr sz="1000" b="1">
                <a:solidFill>
                  <a:srgbClr val="0096B4"/>
                </a:solidFill>
              </a:defRPr>
            </a:pPr>
            <a:r>
              <a:t>CNS ISE — GROUP 5: RANDOM FOREST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CNS ISE Teamwork: Handover Packets for Groups 1 to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To Group 1 (Latency Lead): </a:t>
            </a:r>
            <a:r>
              <a:rPr b="0">
                <a:solidFill>
                  <a:srgbClr val="282828"/>
                </a:solidFill>
              </a:rPr>
              <a:t>Handed over training speed (0.98s) and single-sample latency (61.5 μs) for Section 5.2.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To Group 2 (Data Lead): </a:t>
            </a:r>
            <a:r>
              <a:rPr b="0">
                <a:solidFill>
                  <a:srgbClr val="282828"/>
                </a:solidFill>
              </a:rPr>
              <a:t>Confirmed schema: 30 features, 80/20 stratified split, zero null values, target mapped for Section 3.1.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To Group 3 (Tournament Lead): </a:t>
            </a:r>
            <a:r>
              <a:rPr b="0">
                <a:solidFill>
                  <a:srgbClr val="282828"/>
                </a:solidFill>
              </a:rPr>
              <a:t>Handed over Accuracy (97.42%), F1 (97.70%), Precision (96.96%), and Confusion Matrix for Section 5.1.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To Group 4 (System Setup Lead): </a:t>
            </a:r>
            <a:r>
              <a:rPr b="0">
                <a:solidFill>
                  <a:srgbClr val="282828"/>
                </a:solidFill>
              </a:rPr>
              <a:t>Handed over exact Python 3.10.11, Scikit-learn 1.7.2, and Windows environment specs for Section 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09728"/>
          <a:lstStyle/>
          <a:p>
            <a:pPr algn="ctr">
              <a:defRPr sz="1000" b="1">
                <a:solidFill>
                  <a:srgbClr val="0096B4"/>
                </a:solidFill>
              </a:defRPr>
            </a:pPr>
            <a:r>
              <a:t>CNS ISE — GROUP 5: RANDOM FOREST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What Comes Next (Section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Key Takeaway: </a:t>
            </a:r>
            <a:r>
              <a:rPr b="0">
                <a:solidFill>
                  <a:srgbClr val="282828"/>
                </a:solidFill>
              </a:rPr>
              <a:t>Hyper-tuned Random Forest delivers world-class phishing detection without needing to download malware payloads.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Real-World Browser Extension: </a:t>
            </a:r>
            <a:r>
              <a:rPr b="0">
                <a:solidFill>
                  <a:srgbClr val="282828"/>
                </a:solidFill>
              </a:rPr>
              <a:t>Our model is lightweight enough to be compiled into WebAssembly or ONNX and put directly inside Chrome/Brave.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Next Steps (Explainable AI): </a:t>
            </a:r>
            <a:r>
              <a:rPr b="0">
                <a:solidFill>
                  <a:srgbClr val="282828"/>
                </a:solidFill>
              </a:rPr>
              <a:t>Add TreeSHAP so users can see exactly why a link was blocked (e.g. 'Blocked because SSL is fake and anchor tags point to unknown IP').</a:t>
            </a:r>
          </a:p>
          <a:p>
            <a:pPr>
              <a:spcAft>
                <a:spcPts val="1000"/>
              </a:spcAft>
              <a:defRPr b="1" sz="1700">
                <a:solidFill>
                  <a:srgbClr val="002B49"/>
                </a:solidFill>
              </a:defRPr>
            </a:pPr>
            <a:r>
              <a:t>• Continuous Learning: </a:t>
            </a:r>
            <a:r>
              <a:rPr b="0">
                <a:solidFill>
                  <a:srgbClr val="282828"/>
                </a:solidFill>
              </a:rPr>
              <a:t>Hook the model to live security feeds (PhishTank) to automatically adapt to new tricks every week.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000" b="1">
                <a:solidFill>
                  <a:srgbClr val="FFFFFF"/>
                </a:solidFill>
              </a:defRPr>
            </a:pPr>
            <a:r>
              <a:t>Thank You! Any Questions?</a:t>
            </a:r>
          </a:p>
          <a:p>
            <a:pPr algn="ctr">
              <a:defRPr sz="2000">
                <a:solidFill>
                  <a:srgbClr val="0096B4"/>
                </a:solidFill>
              </a:defRPr>
            </a:pPr>
            <a:r>
              <a:t>CNS ISE — Group 5 Research Consortium</a:t>
            </a:r>
            <a:br/>
            <a:r>
              <a:t>Accuracy: 97.42% | Latency: 61.5 μs | Model: Random Forest Ensemble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